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5"/>
  </p:notesMasterIdLst>
  <p:sldIdLst>
    <p:sldId id="257" r:id="rId2"/>
    <p:sldId id="256" r:id="rId3"/>
    <p:sldId id="258" r:id="rId4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A32179-F8CA-428F-B3A1-9CEFE315C941}">
  <a:tblStyle styleId="{6DA32179-F8CA-428F-B3A1-9CEFE315C9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6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W" dirty="0"/>
              <a:t>EXAMPLE** Fitness 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048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be11c2b73_0_6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be11c2b73_0_6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*Practice: Fitness App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AE8D2A3D-FC51-BA46-9883-9EE12756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be11c2b73_0_673:notes">
            <a:extLst>
              <a:ext uri="{FF2B5EF4-FFF2-40B4-BE49-F238E27FC236}">
                <a16:creationId xmlns:a16="http://schemas.microsoft.com/office/drawing/2014/main" id="{17F9B3A6-6A9C-C96B-8883-0032E8E05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be11c2b73_0_673:notes">
            <a:extLst>
              <a:ext uri="{FF2B5EF4-FFF2-40B4-BE49-F238E27FC236}">
                <a16:creationId xmlns:a16="http://schemas.microsoft.com/office/drawing/2014/main" id="{E1F02A89-1AB5-28B7-9FFE-F07426564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*Practice: Hilton Honors</a:t>
            </a:r>
          </a:p>
        </p:txBody>
      </p:sp>
    </p:spTree>
    <p:extLst>
      <p:ext uri="{BB962C8B-B14F-4D97-AF65-F5344CB8AC3E}">
        <p14:creationId xmlns:p14="http://schemas.microsoft.com/office/powerpoint/2010/main" val="3680355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DO NOT USE] - Guidelines Slides" type="secHead">
  <p:cSld name="SECTION_HEAD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ard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2086350" y="2198475"/>
            <a:ext cx="4886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2086350" y="2834125"/>
            <a:ext cx="48867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Box (small)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048800" y="1129475"/>
            <a:ext cx="704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66775" y="1962650"/>
            <a:ext cx="7046400" cy="19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Box (large)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05400" y="1787750"/>
            <a:ext cx="7867200" cy="28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605400" y="1180500"/>
            <a:ext cx="79332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(10 items, 1 box)">
  <p:cSld name="ONE_COLUMN_TEX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604750" y="1337500"/>
            <a:ext cx="3595500" cy="3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943100" y="1337500"/>
            <a:ext cx="3595500" cy="3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(10 items, 2 boxes)">
  <p:cSld name="BIG_NUMB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558975" y="1333525"/>
            <a:ext cx="3442200" cy="33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2"/>
          </p:nvPr>
        </p:nvSpPr>
        <p:spPr>
          <a:xfrm>
            <a:off x="5030250" y="1333525"/>
            <a:ext cx="3442200" cy="33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250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>
  <p:cSld name="BIG_NUMB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body" idx="1"/>
          </p:nvPr>
        </p:nvSpPr>
        <p:spPr>
          <a:xfrm>
            <a:off x="558975" y="1333525"/>
            <a:ext cx="3442200" cy="33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250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4555550" y="0"/>
            <a:ext cx="4588500" cy="51435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(up to 6 items, 1 box)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1"/>
          </p:nvPr>
        </p:nvSpPr>
        <p:spPr>
          <a:xfrm>
            <a:off x="3266500" y="701850"/>
            <a:ext cx="5205900" cy="39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250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2"/>
          </p:nvPr>
        </p:nvSpPr>
        <p:spPr>
          <a:xfrm>
            <a:off x="605400" y="1180500"/>
            <a:ext cx="25092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TA ONLY: Quizzes (Radio Box)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5030250" y="1333525"/>
            <a:ext cx="3442200" cy="33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/>
          </p:nvPr>
        </p:nvSpPr>
        <p:spPr>
          <a:xfrm>
            <a:off x="506350" y="473950"/>
            <a:ext cx="3541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529450" y="1333525"/>
            <a:ext cx="3495000" cy="33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TA ONLY: Quizzes (Checkbox, Task)">
  <p:cSld name="BIG_NUMBER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524021" y="1333525"/>
            <a:ext cx="3495000" cy="33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2"/>
          </p:nvPr>
        </p:nvSpPr>
        <p:spPr>
          <a:xfrm>
            <a:off x="5030250" y="1333525"/>
            <a:ext cx="3442200" cy="33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/>
          </p:nvPr>
        </p:nvSpPr>
        <p:spPr>
          <a:xfrm>
            <a:off x="506171" y="473950"/>
            <a:ext cx="3530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or icons 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pic>
        <p:nvPicPr>
          <p:cNvPr id="57" name="Google Shape;5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7337" y="1565950"/>
            <a:ext cx="2889325" cy="262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or icons (with text)">
  <p:cSld name="BLANK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4876950" y="1337500"/>
            <a:ext cx="3661500" cy="3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125" y="1643725"/>
            <a:ext cx="2612800" cy="237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ard - Intro only">
  <p:cSld name="TITLE_AND_TWO_COLUMNS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2086350" y="1969875"/>
            <a:ext cx="4886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1"/>
          </p:nvPr>
        </p:nvSpPr>
        <p:spPr>
          <a:xfrm>
            <a:off x="2086350" y="2605525"/>
            <a:ext cx="48867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 amt="36000"/>
          </a:blip>
          <a:stretch>
            <a:fillRect/>
          </a:stretch>
        </p:blipFill>
        <p:spPr>
          <a:xfrm>
            <a:off x="2851425" y="3996227"/>
            <a:ext cx="3115075" cy="55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Card - intro only">
  <p:cSld name="TITLE_AND_TWO_COLUMNS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605400" y="679125"/>
            <a:ext cx="7867200" cy="38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Card - intro only 1">
  <p:cSld name="TITLE_AND_TWO_COLUMNS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605400" y="1432275"/>
            <a:ext cx="7867200" cy="31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4600" y="525150"/>
            <a:ext cx="7938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91500" y="1293900"/>
            <a:ext cx="7971900" cy="3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C4DD0C-3A53-CF15-DBF4-018569447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197AE-C66F-20F1-5A54-7BC560CB2BA5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9548289-E7F3-5863-321C-CD5DC2A79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97522B-13C7-C394-9692-DCBB8C912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33" y="473950"/>
            <a:ext cx="8535097" cy="41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93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Google Shape;79;p17"/>
          <p:cNvGraphicFramePr/>
          <p:nvPr>
            <p:extLst>
              <p:ext uri="{D42A27DB-BD31-4B8C-83A1-F6EECF244321}">
                <p14:modId xmlns:p14="http://schemas.microsoft.com/office/powerpoint/2010/main" val="2040927329"/>
              </p:ext>
            </p:extLst>
          </p:nvPr>
        </p:nvGraphicFramePr>
        <p:xfrm>
          <a:off x="952500" y="656344"/>
          <a:ext cx="7239000" cy="4704635"/>
        </p:xfrm>
        <a:graphic>
          <a:graphicData uri="http://schemas.openxmlformats.org/drawingml/2006/table">
            <a:tbl>
              <a:tblPr>
                <a:noFill/>
                <a:tableStyleId>{6DA32179-F8CA-428F-B3A1-9CEFE315C941}</a:tableStyleId>
              </a:tblPr>
              <a:tblGrid>
                <a:gridCol w="134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4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0802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Key Partners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W" dirty="0"/>
                        <a:t>• Software developers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W" dirty="0"/>
                        <a:t>• Payment Processors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Key Activities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App Development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Sales and Support</a:t>
                      </a:r>
                      <a:endParaRPr dirty="0"/>
                    </a:p>
                  </a:txBody>
                  <a:tcPr marL="91425" marR="91425" marT="91425" marB="91425"/>
                </a:tc>
                <a:tc rowSpan="2"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Value Proposition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Easily track fitness goals and progress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Encourage fitness and make it easy to start</a:t>
                      </a:r>
                      <a:endParaRPr dirty="0"/>
                    </a:p>
                  </a:txBody>
                  <a:tcPr marL="91425" marR="91425" marT="91425" marB="91425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Customer Relationships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App store reviews</a:t>
                      </a:r>
                      <a:endParaRPr dirty="0"/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Customer Segments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Busy working adults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Young adults/ Students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Elderly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Anyone who wants to be fit and start easily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8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Key Resources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Data Centers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Algorithm that encourages use and goal setting</a:t>
                      </a:r>
                      <a:endParaRPr dirty="0"/>
                    </a:p>
                  </a:txBody>
                  <a:tcPr marL="91425" marR="91425" marT="91425" marB="91425"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Channels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App Stores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Referrals</a:t>
                      </a:r>
                      <a:endParaRPr dirty="0"/>
                    </a:p>
                  </a:txBody>
                  <a:tcPr marL="91425" marR="91425" marT="91425" marB="91425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802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Cost Structure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People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Data Centers</a:t>
                      </a:r>
                      <a:endParaRPr dirty="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Revenue Streams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Subscriptions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Free with ads</a:t>
                      </a:r>
                      <a:endParaRPr dirty="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605400" y="83644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Model Canvas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782592D6-AAA8-6A57-AF24-43B192364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" name="Google Shape;79;p17">
            <a:extLst>
              <a:ext uri="{FF2B5EF4-FFF2-40B4-BE49-F238E27FC236}">
                <a16:creationId xmlns:a16="http://schemas.microsoft.com/office/drawing/2014/main" id="{2CF2C81F-2693-AF36-FDED-24F42E3C70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2155061"/>
              </p:ext>
            </p:extLst>
          </p:nvPr>
        </p:nvGraphicFramePr>
        <p:xfrm>
          <a:off x="952500" y="656344"/>
          <a:ext cx="7239000" cy="4846260"/>
        </p:xfrm>
        <a:graphic>
          <a:graphicData uri="http://schemas.openxmlformats.org/drawingml/2006/table">
            <a:tbl>
              <a:tblPr>
                <a:noFill/>
                <a:tableStyleId>{6DA32179-F8CA-428F-B3A1-9CEFE315C941}</a:tableStyleId>
              </a:tblPr>
              <a:tblGrid>
                <a:gridCol w="134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3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4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08025"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Key Partners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W" dirty="0"/>
                        <a:t>•Hilton property partners who participate in the rewards program for users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W" dirty="0"/>
                        <a:t>• Businesses^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Key Activities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Software development to add the additional features to the existing app</a:t>
                      </a:r>
                      <a:endParaRPr dirty="0"/>
                    </a:p>
                  </a:txBody>
                  <a:tcPr marL="91425" marR="91425" marT="91425" marB="91425"/>
                </a:tc>
                <a:tc rowSpan="2"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Value Proposition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Help users plan and enjoy their trips seamlessly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Allow users to book activities in the app as well as see what activities are available (personal recs)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Allow users to order room service and make reservations easy </a:t>
                      </a:r>
                      <a:endParaRPr dirty="0"/>
                    </a:p>
                  </a:txBody>
                  <a:tcPr marL="91425" marR="91425" marT="91425" marB="91425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Customer Relationships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Survey after each trip</a:t>
                      </a:r>
                      <a:endParaRPr dirty="0"/>
                    </a:p>
                  </a:txBody>
                  <a:tcPr marL="91425" marR="91425" marT="91425" marB="91425"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Customer Segments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</a:t>
                      </a:r>
                      <a:r>
                        <a:rPr kumimoji="0" lang="e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cs typeface="Arial"/>
                          <a:sym typeface="Arial"/>
                        </a:rPr>
                        <a:t>People who want to take the stress and inconvenience out of travel – like business trips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8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Key Resources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A travel agency/ planner to help us understand traveler’s needs</a:t>
                      </a:r>
                      <a:endParaRPr dirty="0"/>
                    </a:p>
                  </a:txBody>
                  <a:tcPr marL="91425" marR="91425" marT="91425" marB="91425"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Channels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From a friend or colleague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Hilton website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App Store</a:t>
                      </a:r>
                    </a:p>
                  </a:txBody>
                  <a:tcPr marL="91425" marR="91425" marT="91425" marB="91425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8025"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Cost Structure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People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Partnerships</a:t>
                      </a:r>
                      <a:endParaRPr dirty="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Revenue Streams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• Subscription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• Bookings (free model – earn on concierge)</a:t>
                      </a:r>
                      <a:endParaRPr dirty="0"/>
                    </a:p>
                  </a:txBody>
                  <a:tcPr marL="91425" marR="91425" marT="91425" marB="914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0" name="Google Shape;80;p17">
            <a:extLst>
              <a:ext uri="{FF2B5EF4-FFF2-40B4-BE49-F238E27FC236}">
                <a16:creationId xmlns:a16="http://schemas.microsoft.com/office/drawing/2014/main" id="{3744BAAF-C26A-0BC6-690A-723A751202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400" y="83644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Model Canvas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674589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265</Words>
  <Application>Microsoft Office PowerPoint</Application>
  <PresentationFormat>On-screen Show (16:9)</PresentationFormat>
  <Paragraphs>80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Open Sans</vt:lpstr>
      <vt:lpstr>Simple Light</vt:lpstr>
      <vt:lpstr>PowerPoint Presentation</vt:lpstr>
      <vt:lpstr>Business Model Canvas</vt:lpstr>
      <vt:lpstr>Business Model Canvas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Edwards, Armincia</cp:lastModifiedBy>
  <cp:revision>7</cp:revision>
  <dcterms:modified xsi:type="dcterms:W3CDTF">2026-03-13T04:59:21Z</dcterms:modified>
</cp:coreProperties>
</file>